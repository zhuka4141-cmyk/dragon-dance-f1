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ce-car.jp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0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ragon-mark.png"/>
          <p:cNvPicPr>
            <a:picLocks noChangeAspect="1"/>
          </p:cNvPicPr>
          <p:nvPr/>
        </p:nvPicPr>
        <p:blipFill>
          <a:blip r:embed="rId3"/>
          <a:srcRect t="78" b="78"/>
          <a:stretch>
            <a:fillRect/>
          </a:stretch>
        </p:blipFill>
        <p:spPr>
          <a:xfrm>
            <a:off x="640080" y="45720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512064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400" b="1">
                <a:solidFill>
                  <a:srgbClr val="F2A900"/>
                </a:solidFill>
                <a:latin typeface="Segoe UI"/>
                <a:ea typeface="Microsoft JhengHei"/>
                <a:cs typeface="Microsoft JhengHei"/>
              </a:rPr>
              <a:t>STEM RACING  ·  HONG KONG &amp; MACAU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789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7200" b="1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贊助計劃書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39312"/>
            <a:ext cx="1234440" cy="91440"/>
          </a:xfrm>
          <a:prstGeom prst="rect">
            <a:avLst/>
          </a:prstGeom>
          <a:solidFill>
            <a:srgbClr val="D9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86784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900" b="0">
                <a:solidFill>
                  <a:srgbClr val="EAEAEF"/>
                </a:solidFill>
                <a:latin typeface="Segoe UI"/>
                <a:ea typeface="Microsoft JhengHei"/>
                <a:cs typeface="Microsoft JhengHei"/>
              </a:rPr>
              <a:t>您的支持，點燃一群年輕工程師的夢想，</a:t>
            </a:r>
          </a:p>
          <a:p>
            <a:pPr algn="l">
              <a:lnSpc>
                <a:spcPct val="130000"/>
              </a:lnSpc>
            </a:pPr>
            <a:r>
              <a:rPr sz="1900" b="0">
                <a:solidFill>
                  <a:srgbClr val="EAEAEF"/>
                </a:solidFill>
                <a:latin typeface="Segoe UI"/>
                <a:ea typeface="Microsoft JhengHei"/>
                <a:cs typeface="Microsoft JhengHei"/>
              </a:rPr>
              <a:t>更將貴品牌與香港文化、教育、創新直接掛鉤。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2600" b="1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TEAM DRAGON 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8990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EAEAEF"/>
                </a:solidFill>
                <a:latin typeface="Segoe UI"/>
                <a:ea typeface="Microsoft JhengHei"/>
                <a:cs typeface="Microsoft JhengHei"/>
              </a:rPr>
              <a:t>AD&amp;FD POHL Leung Sing Tak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20624" cy="64008"/>
          </a:xfrm>
          <a:prstGeom prst="rect">
            <a:avLst/>
          </a:prstGeom>
          <a:solidFill>
            <a:srgbClr val="D9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CONTENTS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77824"/>
            <a:ext cx="10908792" cy="0"/>
          </a:xfrm>
          <a:prstGeom prst="line">
            <a:avLst/>
          </a:prstGeom>
          <a:ln w="12700">
            <a:solidFill>
              <a:srgbClr val="E3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207008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4000" b="1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目錄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05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24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860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我們與比賽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51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About the Competition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017520"/>
            <a:ext cx="6035040" cy="0"/>
          </a:xfrm>
          <a:prstGeom prst="line">
            <a:avLst/>
          </a:prstGeom>
          <a:ln w="12700">
            <a:solidFill>
              <a:srgbClr val="E3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182112"/>
            <a:ext cx="1005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24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182112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共同的願景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5478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Our Vision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3913632"/>
            <a:ext cx="6035040" cy="0"/>
          </a:xfrm>
          <a:prstGeom prst="line">
            <a:avLst/>
          </a:prstGeom>
          <a:ln w="12700">
            <a:solidFill>
              <a:srgbClr val="E3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4078224"/>
            <a:ext cx="1005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24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07822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資金與宣傳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443984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Funding &amp; Promotion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4809744"/>
            <a:ext cx="6035040" cy="0"/>
          </a:xfrm>
          <a:prstGeom prst="line">
            <a:avLst/>
          </a:prstGeom>
          <a:ln w="12700">
            <a:solidFill>
              <a:srgbClr val="E3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4974336"/>
            <a:ext cx="1005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24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974336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贊助方案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340096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Sponsorship Tiers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5705856"/>
            <a:ext cx="6035040" cy="0"/>
          </a:xfrm>
          <a:prstGeom prst="line">
            <a:avLst/>
          </a:prstGeom>
          <a:ln w="12700">
            <a:solidFill>
              <a:srgbClr val="E3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5870448"/>
            <a:ext cx="1005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24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87044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聯絡方法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62362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Contact Us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601968"/>
            <a:ext cx="6035040" cy="0"/>
          </a:xfrm>
          <a:prstGeom prst="line">
            <a:avLst/>
          </a:prstGeom>
          <a:ln w="12700">
            <a:solidFill>
              <a:srgbClr val="E3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15200" y="1325880"/>
            <a:ext cx="4114800" cy="502920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team-moment-02.jpg"/>
          <p:cNvPicPr>
            <a:picLocks noChangeAspect="1"/>
          </p:cNvPicPr>
          <p:nvPr/>
        </p:nvPicPr>
        <p:blipFill>
          <a:blip r:embed="rId2"/>
          <a:srcRect t="9695" b="9695"/>
          <a:stretch>
            <a:fillRect/>
          </a:stretch>
        </p:blipFill>
        <p:spPr>
          <a:xfrm>
            <a:off x="7543800" y="1554480"/>
            <a:ext cx="3657600" cy="39319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589520" y="566928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300" b="1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我們在賽道上，也在文化裡。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5566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9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TEAM DRAGON DANCE  ·  STEM RACING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</a:p>
          <a:p>
            <a:pPr algn="r">
              <a:lnSpc>
                <a:spcPct val="112000"/>
              </a:lnSpc>
            </a:pPr>
            <a:r>
              <a:rPr sz="9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20624" cy="64008"/>
          </a:xfrm>
          <a:prstGeom prst="rect">
            <a:avLst/>
          </a:prstGeom>
          <a:solidFill>
            <a:srgbClr val="D9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01 · ABOUT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77824"/>
            <a:ext cx="10908792" cy="0"/>
          </a:xfrm>
          <a:prstGeom prst="line">
            <a:avLst/>
          </a:prstGeom>
          <a:ln w="12700">
            <a:solidFill>
              <a:srgbClr val="E3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170432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3400" b="1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我們與比賽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5852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STEM RACING — F1 官方支持、全球最大型青少年工程競賽，讓 9 至 19 歲學生像真正的 F1 車隊一樣：設計、製造、競速、宣傳。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2240280" cy="1024128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28416"/>
            <a:ext cx="1874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24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180萬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22192"/>
            <a:ext cx="1874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青少年參賽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3200400"/>
            <a:ext cx="2240280" cy="1024128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3328416"/>
            <a:ext cx="1874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24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822192"/>
            <a:ext cx="1874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國家參與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53128"/>
            <a:ext cx="2240280" cy="1024128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81144"/>
            <a:ext cx="1874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24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20米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74920"/>
            <a:ext cx="1874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標準賽道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4453128"/>
            <a:ext cx="2240280" cy="1024128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4581144"/>
            <a:ext cx="1874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24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1秒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074920"/>
            <a:ext cx="1874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決勝時刻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1463040"/>
            <a:ext cx="4572000" cy="475488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anufacturing.jpg"/>
          <p:cNvPicPr>
            <a:picLocks noChangeAspect="1"/>
          </p:cNvPicPr>
          <p:nvPr/>
        </p:nvPicPr>
        <p:blipFill>
          <a:blip r:embed="rId2"/>
          <a:srcRect l="8841" r="8841"/>
          <a:stretch>
            <a:fillRect/>
          </a:stretch>
        </p:blipFill>
        <p:spPr>
          <a:xfrm>
            <a:off x="7269480" y="1691640"/>
            <a:ext cx="4114800" cy="374903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15200" y="562356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一支紮根香港的隊伍，將舞火龍文化融入工程競賽。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9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TEAM DRAGON DANCE  ·  STEM RACING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</a:p>
          <a:p>
            <a:pPr algn="r">
              <a:lnSpc>
                <a:spcPct val="112000"/>
              </a:lnSpc>
            </a:pPr>
            <a:r>
              <a:rPr sz="9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20624" cy="64008"/>
          </a:xfrm>
          <a:prstGeom prst="rect">
            <a:avLst/>
          </a:prstGeom>
          <a:solidFill>
            <a:srgbClr val="D9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02 · VISION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77824"/>
            <a:ext cx="10908792" cy="0"/>
          </a:xfrm>
          <a:prstGeom prst="line">
            <a:avLst/>
          </a:prstGeom>
          <a:ln w="12700">
            <a:solidFill>
              <a:srgbClr val="E3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170432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3400" b="1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共同的願景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6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傳承文化，驅動未來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3502152" cy="2651760"/>
          </a:xfrm>
          <a:prstGeom prst="roundRect">
            <a:avLst>
              <a:gd name="adj" fmla="val 5000"/>
            </a:avLst>
          </a:prstGeom>
          <a:solidFill>
            <a:srgbClr val="FB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377440"/>
            <a:ext cx="118872" cy="2651760"/>
          </a:xfrm>
          <a:prstGeom prst="rect">
            <a:avLst/>
          </a:prstGeom>
          <a:solidFill>
            <a:srgbClr val="D9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70048"/>
            <a:ext cx="28620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2100" b="1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國際舞台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91840"/>
            <a:ext cx="286207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您的品牌，隨我們征戰國際，與全球頂尖隊伍同框，觸及 65 個國家、數百萬觀眾。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377440"/>
            <a:ext cx="3502152" cy="2651760"/>
          </a:xfrm>
          <a:prstGeom prst="roundRect">
            <a:avLst>
              <a:gd name="adj" fmla="val 5000"/>
            </a:avLst>
          </a:prstGeom>
          <a:solidFill>
            <a:srgbClr val="FB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377440"/>
            <a:ext cx="118872" cy="2651760"/>
          </a:xfrm>
          <a:prstGeom prst="rect">
            <a:avLst/>
          </a:prstGeom>
          <a:solidFill>
            <a:srgbClr val="D9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670048"/>
            <a:ext cx="28620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2100" b="1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文化價值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91840"/>
            <a:ext cx="286207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舞火龍是香港非物質文化遺產。您的支持，讓這份文化技藝在國際年輕一代眼前重生。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377440"/>
            <a:ext cx="3502152" cy="2651760"/>
          </a:xfrm>
          <a:prstGeom prst="roundRect">
            <a:avLst>
              <a:gd name="adj" fmla="val 5000"/>
            </a:avLst>
          </a:prstGeom>
          <a:solidFill>
            <a:srgbClr val="FB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377440"/>
            <a:ext cx="118872" cy="2651760"/>
          </a:xfrm>
          <a:prstGeom prst="rect">
            <a:avLst/>
          </a:prstGeom>
          <a:solidFill>
            <a:srgbClr val="D9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670048"/>
            <a:ext cx="28620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2100" b="1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社會價值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91840"/>
            <a:ext cx="286207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支持香港年輕一代以實力傳遞香港文化故事，讓品牌與教育、創新、文化保育緊緊相連。</a:t>
            </a:r>
          </a:p>
        </p:txBody>
      </p:sp>
      <p:pic>
        <p:nvPicPr>
          <p:cNvPr id="20" name="Picture 19" descr="sponsorship-marketing.jpg"/>
          <p:cNvPicPr>
            <a:picLocks noChangeAspect="1"/>
          </p:cNvPicPr>
          <p:nvPr/>
        </p:nvPicPr>
        <p:blipFill>
          <a:blip r:embed="rId2"/>
          <a:srcRect t="38455" b="38455"/>
          <a:stretch>
            <a:fillRect/>
          </a:stretch>
        </p:blipFill>
        <p:spPr>
          <a:xfrm>
            <a:off x="640080" y="5257800"/>
            <a:ext cx="10908792" cy="1417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45566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9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TEAM DRAGON DANCE  ·  STEM RACING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</a:p>
          <a:p>
            <a:pPr algn="r">
              <a:lnSpc>
                <a:spcPct val="112000"/>
              </a:lnSpc>
            </a:pPr>
            <a:r>
              <a:rPr sz="9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20624" cy="64008"/>
          </a:xfrm>
          <a:prstGeom prst="rect">
            <a:avLst/>
          </a:prstGeom>
          <a:solidFill>
            <a:srgbClr val="D9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03 · FUNDING &amp; PROMOTION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77824"/>
            <a:ext cx="10908792" cy="0"/>
          </a:xfrm>
          <a:prstGeom prst="line">
            <a:avLst/>
          </a:prstGeom>
          <a:ln w="12700">
            <a:solidFill>
              <a:srgbClr val="E3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170432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3400" b="1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資金與宣傳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840480" cy="42062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ace-car.jpg"/>
          <p:cNvPicPr>
            <a:picLocks noChangeAspect="1"/>
          </p:cNvPicPr>
          <p:nvPr/>
        </p:nvPicPr>
        <p:blipFill>
          <a:blip r:embed="rId2"/>
          <a:srcRect l="10833" r="10833"/>
          <a:stretch>
            <a:fillRect/>
          </a:stretch>
        </p:blipFill>
        <p:spPr>
          <a:xfrm>
            <a:off x="841248" y="2212848"/>
            <a:ext cx="3438144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824" y="566928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線上線下同步曝光，最大化品牌推廣效益。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011680"/>
            <a:ext cx="6656832" cy="201168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2194560"/>
            <a:ext cx="61081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8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資金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724912"/>
            <a:ext cx="610819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車隊需自主籌措營運經費，涵蓋設計、製造、報名與行銷。您的支持將投入 3D 打印耗材、制服、宣傳物料與後勤。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4206240"/>
            <a:ext cx="6656832" cy="201168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4389120"/>
            <a:ext cx="61081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8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宣傳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4919472"/>
            <a:ext cx="610819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透過社交媒體平台宣傳贊助商；在制服及賽車上展示貴公司標誌，於賽事現場與線上內容持續強化品牌識別。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5566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9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TEAM DRAGON DANCE  ·  STEM RACING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</a:p>
          <a:p>
            <a:pPr algn="r">
              <a:lnSpc>
                <a:spcPct val="112000"/>
              </a:lnSpc>
            </a:pPr>
            <a:r>
              <a:rPr sz="9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420624" cy="64008"/>
          </a:xfrm>
          <a:prstGeom prst="rect">
            <a:avLst/>
          </a:prstGeom>
          <a:solidFill>
            <a:srgbClr val="D9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04 · SPONSORSHIP TIERS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77824"/>
            <a:ext cx="10908792" cy="0"/>
          </a:xfrm>
          <a:prstGeom prst="line">
            <a:avLst/>
          </a:prstGeom>
          <a:ln w="12700">
            <a:solidFill>
              <a:srgbClr val="E3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170432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3400" b="1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贊助方案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3502152" cy="3657600"/>
          </a:xfrm>
          <a:prstGeom prst="roundRect">
            <a:avLst>
              <a:gd name="adj" fmla="val 5000"/>
            </a:avLst>
          </a:prstGeom>
          <a:solidFill>
            <a:srgbClr val="FB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14400" y="2121408"/>
            <a:ext cx="2953512" cy="0"/>
          </a:xfrm>
          <a:prstGeom prst="line">
            <a:avLst/>
          </a:prstGeom>
          <a:ln w="12700">
            <a:solidFill>
              <a:srgbClr val="E3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32688" y="2587752"/>
            <a:ext cx="2916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38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10712"/>
            <a:ext cx="29169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3200" b="1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2500</a:t>
            </a:r>
            <a:r>
              <a:rPr sz="13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  港元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480560"/>
            <a:ext cx="2916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•  </a:t>
            </a:r>
            <a:r>
              <a:rPr sz="1400" b="0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社交媒體感謝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047488"/>
            <a:ext cx="2916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•  </a:t>
            </a:r>
            <a:r>
              <a:rPr sz="1400" b="0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標誌放制服和賽車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240280"/>
            <a:ext cx="3502152" cy="3657600"/>
          </a:xfrm>
          <a:prstGeom prst="roundRect">
            <a:avLst>
              <a:gd name="adj" fmla="val 5000"/>
            </a:avLst>
          </a:prstGeom>
          <a:solidFill>
            <a:srgbClr val="1B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121408"/>
            <a:ext cx="3502152" cy="329184"/>
          </a:xfrm>
          <a:prstGeom prst="rect">
            <a:avLst/>
          </a:prstGeom>
          <a:solidFill>
            <a:srgbClr val="D9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587752"/>
            <a:ext cx="2916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3800" b="1">
                <a:solidFill>
                  <a:srgbClr val="F2A900"/>
                </a:solidFill>
                <a:latin typeface="Segoe UI"/>
                <a:ea typeface="Microsoft JhengHei"/>
                <a:cs typeface="Microsoft JhengHei"/>
              </a:rPr>
              <a:t>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410712"/>
            <a:ext cx="29169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3200" b="1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3000</a:t>
            </a:r>
            <a:r>
              <a:rPr sz="1300" b="0">
                <a:solidFill>
                  <a:srgbClr val="EAEAEF"/>
                </a:solidFill>
                <a:latin typeface="Segoe UI"/>
                <a:ea typeface="Microsoft JhengHei"/>
                <a:cs typeface="Microsoft JhengHei"/>
              </a:rPr>
              <a:t>  港元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4480560"/>
            <a:ext cx="2916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F2A900"/>
                </a:solidFill>
                <a:latin typeface="Segoe UI"/>
                <a:ea typeface="Microsoft JhengHei"/>
                <a:cs typeface="Microsoft JhengHei"/>
              </a:rPr>
              <a:t>•  </a:t>
            </a:r>
            <a:r>
              <a:rPr sz="1400" b="0">
                <a:solidFill>
                  <a:srgbClr val="EAEAEF"/>
                </a:solidFill>
                <a:latin typeface="Segoe UI"/>
                <a:ea typeface="Microsoft JhengHei"/>
                <a:cs typeface="Microsoft JhengHei"/>
              </a:rPr>
              <a:t>龍 方案全部回報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5047488"/>
            <a:ext cx="2916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F2A900"/>
                </a:solidFill>
                <a:latin typeface="Segoe UI"/>
                <a:ea typeface="Microsoft JhengHei"/>
                <a:cs typeface="Microsoft JhengHei"/>
              </a:rPr>
              <a:t>•  </a:t>
            </a:r>
            <a:r>
              <a:rPr sz="1400" b="0">
                <a:solidFill>
                  <a:srgbClr val="EAEAEF"/>
                </a:solidFill>
                <a:latin typeface="Segoe UI"/>
                <a:ea typeface="Microsoft JhengHei"/>
                <a:cs typeface="Microsoft JhengHei"/>
              </a:rPr>
              <a:t>標誌放商品上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240280"/>
            <a:ext cx="3502152" cy="3657600"/>
          </a:xfrm>
          <a:prstGeom prst="roundRect">
            <a:avLst>
              <a:gd name="adj" fmla="val 5000"/>
            </a:avLst>
          </a:prstGeom>
          <a:solidFill>
            <a:srgbClr val="FB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321040" y="2121408"/>
            <a:ext cx="2953512" cy="0"/>
          </a:xfrm>
          <a:prstGeom prst="line">
            <a:avLst/>
          </a:prstGeom>
          <a:ln w="12700">
            <a:solidFill>
              <a:srgbClr val="E3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39328" y="2587752"/>
            <a:ext cx="29169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38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3410712"/>
            <a:ext cx="29169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3200" b="1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3500</a:t>
            </a:r>
            <a:r>
              <a:rPr sz="13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  港元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480560"/>
            <a:ext cx="2916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•  </a:t>
            </a:r>
            <a:r>
              <a:rPr sz="1400" b="0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龖 方案全部回報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5047488"/>
            <a:ext cx="2916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•  </a:t>
            </a:r>
            <a:r>
              <a:rPr sz="1400" b="0">
                <a:solidFill>
                  <a:srgbClr val="1B1B1F"/>
                </a:solidFill>
                <a:latin typeface="Segoe UI"/>
                <a:ea typeface="Microsoft JhengHei"/>
                <a:cs typeface="Microsoft JhengHei"/>
              </a:rPr>
              <a:t>一條宣傳短片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447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條款細則歡迎隨時聯絡作查詢，表格供方案參考。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900" b="0">
                <a:solidFill>
                  <a:srgbClr val="6B6B72"/>
                </a:solidFill>
                <a:latin typeface="Segoe UI"/>
                <a:ea typeface="Microsoft JhengHei"/>
                <a:cs typeface="Microsoft JhengHei"/>
              </a:rPr>
              <a:t>TEAM DRAGON DANCE  ·  STEM RACING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</a:p>
          <a:p>
            <a:pPr algn="r">
              <a:lnSpc>
                <a:spcPct val="112000"/>
              </a:lnSpc>
            </a:pPr>
            <a:r>
              <a:rPr sz="900" b="1">
                <a:solidFill>
                  <a:srgbClr val="D91F2A"/>
                </a:solidFill>
                <a:latin typeface="Segoe UI"/>
                <a:ea typeface="Microsoft JhengHei"/>
                <a:cs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420624" cy="64008"/>
          </a:xfrm>
          <a:prstGeom prst="rect">
            <a:avLst/>
          </a:prstGeom>
          <a:solidFill>
            <a:srgbClr val="D9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F2A900"/>
                </a:solidFill>
                <a:latin typeface="Segoe UI"/>
                <a:ea typeface="Microsoft JhengHei"/>
                <a:cs typeface="Microsoft JhengHei"/>
              </a:rPr>
              <a:t>05 · CONTACT US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877824"/>
            <a:ext cx="10908792" cy="0"/>
          </a:xfrm>
          <a:prstGeom prst="line">
            <a:avLst/>
          </a:prstGeom>
          <a:ln w="12700">
            <a:solidFill>
              <a:srgbClr val="3A3A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371600"/>
            <a:ext cx="3383280" cy="4572000"/>
          </a:xfrm>
          <a:prstGeom prst="roundRect">
            <a:avLst>
              <a:gd name="adj" fmla="val 5000"/>
            </a:avLst>
          </a:prstGeom>
          <a:solidFill>
            <a:srgbClr val="2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ragon-mark.png"/>
          <p:cNvPicPr>
            <a:picLocks noChangeAspect="1"/>
          </p:cNvPicPr>
          <p:nvPr/>
        </p:nvPicPr>
        <p:blipFill>
          <a:blip r:embed="rId2"/>
          <a:srcRect t="78" b="78"/>
          <a:stretch>
            <a:fillRect/>
          </a:stretch>
        </p:blipFill>
        <p:spPr>
          <a:xfrm>
            <a:off x="1371600" y="2103120"/>
            <a:ext cx="1920240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4805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</a:p>
          <a:p>
            <a:pPr algn="l">
              <a:lnSpc>
                <a:spcPct val="105000"/>
              </a:lnSpc>
            </a:pPr>
            <a:r>
              <a:rPr sz="2800" b="1">
                <a:solidFill>
                  <a:srgbClr val="F2A900"/>
                </a:solidFill>
                <a:latin typeface="Segoe UI"/>
                <a:ea typeface="Microsoft JhengHei"/>
                <a:cs typeface="Microsoft JhengHei"/>
              </a:rPr>
              <a:t>TEAM</a:t>
            </a:r>
          </a:p>
          <a:p>
            <a:pPr algn="l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DRAGON 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207008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3800" b="1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聯絡方法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EAEAEF"/>
                </a:solidFill>
                <a:latin typeface="Segoe UI"/>
                <a:ea typeface="Microsoft JhengHei"/>
                <a:cs typeface="Microsoft JhengHei"/>
              </a:rPr>
              <a:t>與我們展開對話，讓品牌與香港文化一起走向世界。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7889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F2A900"/>
                </a:solidFill>
                <a:latin typeface="Segoe UI"/>
                <a:ea typeface="Microsoft JhengHei"/>
                <a:cs typeface="Microsoft JhengHei"/>
              </a:rPr>
              <a:t>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889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dragondance@lstc.edu.hk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89120" y="3355848"/>
            <a:ext cx="7315200" cy="0"/>
          </a:xfrm>
          <a:prstGeom prst="line">
            <a:avLst/>
          </a:prstGeom>
          <a:ln w="12700">
            <a:solidFill>
              <a:srgbClr val="3A3A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89120" y="3657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F2A900"/>
                </a:solidFill>
                <a:latin typeface="Segoe UI"/>
                <a:ea typeface="Microsoft JhengHei"/>
                <a:cs typeface="Microsoft JhengHei"/>
              </a:rPr>
              <a:t>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6576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+852 6011 6515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89120" y="4224528"/>
            <a:ext cx="7315200" cy="0"/>
          </a:xfrm>
          <a:prstGeom prst="line">
            <a:avLst/>
          </a:prstGeom>
          <a:ln w="12700">
            <a:solidFill>
              <a:srgbClr val="3A3A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89120" y="4526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F2A900"/>
                </a:solidFill>
                <a:latin typeface="Segoe UI"/>
                <a:ea typeface="Microsoft JhengHei"/>
                <a:cs typeface="Microsoft JhengHei"/>
              </a:rPr>
              <a:t>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5262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Estate Secondary School No. 2, Shek Wai Kok Estate, Tsuen Wan, N.T., Hong Kong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89120" y="5093208"/>
            <a:ext cx="7315200" cy="0"/>
          </a:xfrm>
          <a:prstGeom prst="line">
            <a:avLst/>
          </a:prstGeom>
          <a:ln w="12700">
            <a:solidFill>
              <a:srgbClr val="3A3A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89120" y="5394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F2A900"/>
                </a:solidFill>
                <a:latin typeface="Segoe UI"/>
                <a:ea typeface="Microsoft JhengHei"/>
                <a:cs typeface="Microsoft JhengHei"/>
              </a:rPr>
              <a:t>SOCIAL MEDIA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3949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@team_dragon_dance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89120" y="5961888"/>
            <a:ext cx="7315200" cy="0"/>
          </a:xfrm>
          <a:prstGeom prst="line">
            <a:avLst/>
          </a:prstGeom>
          <a:ln w="12700">
            <a:solidFill>
              <a:srgbClr val="3A3A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972800" y="645566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</a:p>
          <a:p>
            <a:pPr algn="r">
              <a:lnSpc>
                <a:spcPct val="112000"/>
              </a:lnSpc>
            </a:pPr>
            <a:r>
              <a:rPr sz="900" b="1">
                <a:solidFill>
                  <a:srgbClr val="F2A900"/>
                </a:solidFill>
                <a:latin typeface="Segoe UI"/>
                <a:ea typeface="Microsoft JhengHei"/>
                <a:cs typeface="Microsoft JhengHei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